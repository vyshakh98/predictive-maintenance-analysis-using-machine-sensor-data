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40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3931920"/>
            <a:ext cx="3657600" cy="36576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Analyzing Machine Sensor Data to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Industrial Equipment Failure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Analytics Final Project — Exploratory Data Analysis using Python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11887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Vyshakh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394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Engineering  |  Data Analytics Coursework  |  August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Unplanned Downtime Is a Costly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manufacturing, machines fail without warning — halting production, delaying orders, and driving up repair costs. Most factories still rely on two outdated strategies: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  <a:effectLst>
            <a:outerShdw blurRad="76200" dist="25400" dir="5400000" algn="bl" rotWithShape="0">
              <a:srgbClr val="AAB8B9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999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Maintenance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machine only after it breaks — resulting in expensive, unplanned downtime.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  <a:effectLst>
            <a:outerShdw blurRad="76200" dist="25400" dir="5400000" algn="bl" rotWithShape="0">
              <a:srgbClr val="AAB8B9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42336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Maintenance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572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machines at fixed intervals, regardless of their actual condition — wasteful and imprecise.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0" y="160020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19659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THE INDUSTRY NEEDS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23774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58000" y="365760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real-time sensor data — temperature, torque, rotational speed, and tool wear — to detect early warning signs of failure before it happens.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4983480"/>
            <a:ext cx="402336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51663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less downtime, lower repair cost, longer machine life.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 Out to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949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perform exploratory data analysis on industrial machine sensor data, in order to identify which conditions and readings are most strongly associated with machine failure — laying the groundwork for a predictive maintenance strategy.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9300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structure and quality of real industrial sensor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178808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05993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 grounded in mechanical engineering principles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745736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62686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strongest drivers of machine failure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312664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19379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actionable maintenance recommendations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1691640"/>
            <a:ext cx="3657600" cy="4343400"/>
          </a:xfrm>
          <a:prstGeom prst="roundRect">
            <a:avLst>
              <a:gd name="adj" fmla="val 25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103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τ × ω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183880" y="29718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engineering formulas were used to engineer new features from raw sensor data — bridging domain knowledge with data analytics.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21040" y="4572000"/>
            <a:ext cx="283464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47548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differentiator that connects a mechanical engineering degree to a data analytics skillset.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AI4I 2020 Predictive Maintenance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the UCI Machine Learning Repository — a trusted academic source for real, structured industrial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505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Records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22860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4505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91840" y="31546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22860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24505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35040" y="31546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Tracked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78240" y="22860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24505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778240" y="31546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Failure Rate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INCLUDED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EAF4F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57200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&amp; Process Temperature (K)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4572000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EAF4F3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457200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Speed (rpm)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138928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EAF4F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13892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(Nm)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5138928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EAF4F3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513892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 (min)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705856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EAF4F3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705856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 Type (L / M / H)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0" y="5705856"/>
            <a:ext cx="5120640" cy="438912"/>
          </a:xfrm>
          <a:prstGeom prst="roundRect">
            <a:avLst>
              <a:gd name="adj" fmla="val 12500"/>
            </a:avLst>
          </a:prstGeom>
          <a:solidFill>
            <a:srgbClr val="EAF4F3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5705856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Type Flags (TWF, HDF, PWF, OSF, RNF)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317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D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and inspect the raw dataset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517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B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34640" y="210312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3317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D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017520" y="29718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Feature Engineering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17520" y="379476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quality checks, engineer new features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B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20640" y="210312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028090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23317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303520" y="29718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303520" y="379476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bivariate &amp; multivariate analysis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237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B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406640" y="210312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23317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D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589520" y="29718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0" y="379476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13+ charts uncovering failure patterns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5097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AB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92640" y="2103120"/>
            <a:ext cx="2148840" cy="3291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0" y="23317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DA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875520" y="29718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75520" y="379476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action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&amp; Cleaning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4048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80160" y="27157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found across all 14 columns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3375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2735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80160" y="35844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found in 10,000 records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20624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1422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80160" y="44531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for clarity &amp; consistency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52578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verified dataset means every downstream insight can be trusted.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173736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965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 SAVED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423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best-practice pipeline: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292608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16304F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29260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(.csv)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3584448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16304F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58444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Feature Engineering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0" y="4242816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424281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 (.csv)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0" y="4901184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16304F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490118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Analysis-Ready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Features Using Mechanical Principles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features were derived from raw sensor readings, each grounded in real engineering logic — not arbitrary math.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5786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Temp_Diff_K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9443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Temp − Air Temp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shrinking gap between process and air temperature signals poor heat dissipation — a machine struggling to cool itself efficiently.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4800600" cy="0"/>
          </a:xfrm>
          <a:prstGeom prst="line">
            <a:avLst/>
          </a:prstGeom>
          <a:noFill/>
          <a:ln w="12700">
            <a:solidFill>
              <a:srgbClr val="DCE7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09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linked to Heat Dissipation Failure (HDF) — the most common failure mode in this dataset.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2286000"/>
            <a:ext cx="55321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40880" y="257860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Power_W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880" y="29443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× Angular Velocity  (P = τω)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55080" y="34290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rotational dynamics formula, converting torque and rotational speed (RPM → rad/s) into true mechanical power output.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4572000"/>
            <a:ext cx="4983480" cy="0"/>
          </a:xfrm>
          <a:prstGeom prst="line">
            <a:avLst/>
          </a:prstGeom>
          <a:noFill/>
          <a:ln w="12700">
            <a:solidFill>
              <a:srgbClr val="DCE7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47091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strongest individual predictors of machine failure found in this analysis.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Reading Distributions</a:t>
            </a:r>
            <a:endParaRPr lang="en-US" sz="3000" dirty="0"/>
          </a:p>
        </p:txBody>
      </p:sp>
      <p:pic>
        <p:nvPicPr>
          <p:cNvPr id="4" name="Image 0" descr="char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13" y="1593669"/>
            <a:ext cx="6998876" cy="522700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593668"/>
            <a:ext cx="3840480" cy="5227009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8388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LOOKED AT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183880" y="23408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8458200" y="21945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 speed is right-skewed, with high-speed outliers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83880" y="35478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8458200" y="3401568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 is evenly distributed (0–250 min)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83880" y="47548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8458200" y="4608576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difference shows two distinct peaks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83880" y="596188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8458200" y="5815584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Torque, temperature &amp; power follow near-normal curves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 — UNIVARIATE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Rare but Costly Event</a:t>
            </a:r>
            <a:endParaRPr lang="en-US" sz="3000" dirty="0"/>
          </a:p>
        </p:txBody>
      </p:sp>
      <p:pic>
        <p:nvPicPr>
          <p:cNvPr id="4" name="Image 0" descr="char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12064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645920"/>
            <a:ext cx="5577840" cy="1920240"/>
          </a:xfrm>
          <a:prstGeom prst="roundRect">
            <a:avLst>
              <a:gd name="adj" fmla="val 4762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6309360" y="17830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3.39%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309360" y="26974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machines in the dataset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failure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379476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339 of 10,000 machines failed. This class imbalance reflects real-world industrial reliability — failures are rare, high-impact events, which makes each one worth understanding deeply.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35040" y="5349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#1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 — BIVARIATE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Grade Predicts Failure Risk</a:t>
            </a:r>
            <a:endParaRPr lang="en-US" sz="3000" dirty="0"/>
          </a:p>
        </p:txBody>
      </p:sp>
      <p:pic>
        <p:nvPicPr>
          <p:cNvPr id="4" name="Image 0" descr="chart_3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4023360" cy="3429000"/>
          </a:xfrm>
          <a:prstGeom prst="rect">
            <a:avLst/>
          </a:prstGeom>
        </p:spPr>
      </p:pic>
      <p:pic>
        <p:nvPicPr>
          <p:cNvPr id="5" name="Image 1" descr="chart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691640"/>
            <a:ext cx="4023360" cy="3429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915400" y="1691640"/>
            <a:ext cx="2743200" cy="3429000"/>
          </a:xfrm>
          <a:prstGeom prst="roundRect">
            <a:avLst>
              <a:gd name="adj" fmla="val 3333"/>
            </a:avLst>
          </a:prstGeom>
          <a:solidFill>
            <a:srgbClr val="0B1F3A"/>
          </a:solidFill>
          <a:ln/>
        </p:spPr>
      </p:sp>
      <p:sp>
        <p:nvSpPr>
          <p:cNvPr id="7" name="Text 3"/>
          <p:cNvSpPr/>
          <p:nvPr/>
        </p:nvSpPr>
        <p:spPr>
          <a:xfrm>
            <a:off x="909828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L: 3.92%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09828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 2.77%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09828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 2.09%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9098280" y="3246120"/>
            <a:ext cx="21945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098280" y="34290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7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Low-quality machines fail nearly 2× as often as high-quality ones.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5349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#2 — component/build quality is a meaningful reliability factor.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03 — BIVARIATE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Torque, Higher Failure Risk</a:t>
            </a:r>
            <a:endParaRPr lang="en-US" sz="3000" dirty="0"/>
          </a:p>
        </p:txBody>
      </p:sp>
      <p:pic>
        <p:nvPicPr>
          <p:cNvPr id="4" name="Image 0" descr="chart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39496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64592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0" y="17830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 machines show visibly higher torque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309360" y="324612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that failed carry noticeably higher torque loads than those that didn't. Excess torque places greater mechanical stress on components, raising failure likelihood — consistent with the dataset's Overstrain Failure (OSF) category.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09360" y="5349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#3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04 — BIVARIATE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Worn Tools Fail More Often</a:t>
            </a:r>
            <a:endParaRPr lang="en-US" sz="3000" dirty="0"/>
          </a:p>
        </p:txBody>
      </p:sp>
      <p:pic>
        <p:nvPicPr>
          <p:cNvPr id="4" name="Image 0" descr="chart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39496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64592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0" y="17830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 machines show higher tool wear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309360" y="324612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cutting tools wear down, friction, heat, and mechanical stress increase — raising the likelihood of failure. This pattern directly supports the dataset's Tool Wear Failure (TWF) category.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09360" y="5349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#4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05 — BIVARIATE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Heat Dissipation Signals Failure</a:t>
            </a:r>
            <a:endParaRPr lang="en-US" sz="3000" dirty="0"/>
          </a:p>
        </p:txBody>
      </p:sp>
      <p:pic>
        <p:nvPicPr>
          <p:cNvPr id="4" name="Image 0" descr="chart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39496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64592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E4572E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0" y="17830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 machines show a smaller temperature gap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309360" y="324612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that failed show a smaller Temp_Diff_K — meaning process temperature stays too close to air temperature. This confirms poor heat dissipation is linked to failure, validating the engineered feature.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09360" y="5349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#5 — an engineered feature that proved genuinely predictive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06 — BIVARIATE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Failures Cluster Around Two Operating Zones</a:t>
            </a:r>
            <a:endParaRPr lang="en-US" sz="3000" dirty="0"/>
          </a:p>
        </p:txBody>
      </p:sp>
      <p:pic>
        <p:nvPicPr>
          <p:cNvPr id="4" name="Image 0" descr="chart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0080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3760" y="1600200"/>
            <a:ext cx="44348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52360" y="1828800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18105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52360" y="21945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torque + low-to-moderate speed → Overstrain Failure risk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52360" y="288036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28620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52360" y="32461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speed + low torque → Power Failure risk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223760" y="3977640"/>
            <a:ext cx="4434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isn't driven by one variable — it's specific combinations of torque and speed. This is exactly what our Power_W feature (Torque × Speed) was built to capture.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223760" y="5623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#6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07 — MULTIVARIATE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Correlates Most With Failure?</a:t>
            </a:r>
            <a:endParaRPr lang="en-US" sz="3000" dirty="0"/>
          </a:p>
        </p:txBody>
      </p:sp>
      <p:pic>
        <p:nvPicPr>
          <p:cNvPr id="4" name="Image 0" descr="chart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594360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0" y="1737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LINKS TO FAILURE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766560" y="2148840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EAF4F3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0" y="2148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Torque_Nm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0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766560" y="2807208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EAF4F3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0" y="280720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Power_W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0" y="280720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0.18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766560" y="3465576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EAF4F3"/>
          </a:solidFill>
          <a:ln/>
        </p:spPr>
      </p:sp>
      <p:sp>
        <p:nvSpPr>
          <p:cNvPr id="13" name="Text 10"/>
          <p:cNvSpPr/>
          <p:nvPr/>
        </p:nvSpPr>
        <p:spPr>
          <a:xfrm>
            <a:off x="6949440" y="346557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Tool_wear_min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058400" y="34655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766560" y="4123944"/>
            <a:ext cx="4846320" cy="548640"/>
          </a:xfrm>
          <a:prstGeom prst="roundRect">
            <a:avLst>
              <a:gd name="adj" fmla="val 10000"/>
            </a:avLst>
          </a:prstGeom>
          <a:solidFill>
            <a:srgbClr val="EAF4F3"/>
          </a:solidFill>
          <a:ln/>
        </p:spPr>
      </p:sp>
      <p:sp>
        <p:nvSpPr>
          <p:cNvPr id="16" name="Text 13"/>
          <p:cNvSpPr/>
          <p:nvPr/>
        </p:nvSpPr>
        <p:spPr>
          <a:xfrm>
            <a:off x="6949440" y="412394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Temp_Diff_K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0" y="412394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-0.11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766560" y="49377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variable dominates — failure emerges from a combination of conditions, not one factor alone.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08 — UNIVARIATE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 Dissipation: The #1 Failure Mode</a:t>
            </a:r>
            <a:endParaRPr lang="en-US" sz="3000" dirty="0"/>
          </a:p>
        </p:txBody>
      </p:sp>
      <p:pic>
        <p:nvPicPr>
          <p:cNvPr id="4" name="Image 0" descr="chart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30936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691640"/>
            <a:ext cx="44805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78040" y="1691640"/>
            <a:ext cx="109728" cy="74980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7" name="Text 4"/>
          <p:cNvSpPr/>
          <p:nvPr/>
        </p:nvSpPr>
        <p:spPr>
          <a:xfrm>
            <a:off x="7406640" y="169164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HDF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75320" y="1691640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Dissipation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241280" y="1691640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178040" y="2560320"/>
            <a:ext cx="44805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78040" y="2560320"/>
            <a:ext cx="109728" cy="7498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256032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OSF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75320" y="2560320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Overstrain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0241280" y="2560320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178040" y="3429000"/>
            <a:ext cx="44805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78040" y="3429000"/>
            <a:ext cx="109728" cy="7498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7406640" y="342900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PWF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75320" y="3429000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0241280" y="3429000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178040" y="4297680"/>
            <a:ext cx="44805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78040" y="4297680"/>
            <a:ext cx="109728" cy="749808"/>
          </a:xfrm>
          <a:prstGeom prst="rect">
            <a:avLst/>
          </a:prstGeom>
          <a:solidFill>
            <a:srgbClr val="8FA6AC"/>
          </a:solidFill>
          <a:ln/>
        </p:spPr>
      </p:sp>
      <p:sp>
        <p:nvSpPr>
          <p:cNvPr id="22" name="Text 19"/>
          <p:cNvSpPr/>
          <p:nvPr/>
        </p:nvSpPr>
        <p:spPr>
          <a:xfrm>
            <a:off x="7406640" y="429768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TWF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275320" y="4297680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0241280" y="4297680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FA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7178040" y="5166360"/>
            <a:ext cx="44805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78040" y="5166360"/>
            <a:ext cx="109728" cy="749808"/>
          </a:xfrm>
          <a:prstGeom prst="rect">
            <a:avLst/>
          </a:prstGeom>
          <a:solidFill>
            <a:srgbClr val="C9DADA"/>
          </a:solidFill>
          <a:ln/>
        </p:spPr>
      </p:sp>
      <p:sp>
        <p:nvSpPr>
          <p:cNvPr id="27" name="Text 24"/>
          <p:cNvSpPr/>
          <p:nvPr/>
        </p:nvSpPr>
        <p:spPr>
          <a:xfrm>
            <a:off x="7406640" y="516636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RNF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275320" y="5166360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0241280" y="5166360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B6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09 — MULTIVARIATE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Failure Spans Both Extremes</a:t>
            </a:r>
            <a:endParaRPr lang="en-US" sz="3000" dirty="0"/>
          </a:p>
        </p:txBody>
      </p:sp>
      <p:pic>
        <p:nvPicPr>
          <p:cNvPr id="4" name="Image 0" descr="chart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676656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645920"/>
            <a:ext cx="4069080" cy="4480560"/>
          </a:xfrm>
          <a:prstGeom prst="roundRect">
            <a:avLst>
              <a:gd name="adj" fmla="val 2247"/>
            </a:avLst>
          </a:prstGeom>
          <a:solidFill>
            <a:srgbClr val="0B1F3A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920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63840" y="233172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3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Failure (PWF) shows the widest spread in power output — occurring at both extremes: too little power to operate, or too much straining the machine.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63840" y="3977640"/>
            <a:ext cx="329184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16052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7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failure modes (HDF, OSF) stay closer to normal power ranges — confirming they're driven by their own specific root causes, not power extremes.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  <a:effectLst>
            <a:outerShdw blurRad="63500" dist="25400" dir="5400000" algn="bl" rotWithShape="0">
              <a:srgbClr val="AAB8B9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5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3.39% of machines failed — rare, high-impact events typical of real industrial data.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  <a:effectLst>
            <a:outerShdw blurRad="63500" dist="25400" dir="5400000" algn="bl" rotWithShape="0">
              <a:srgbClr val="AAB8B9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8562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5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0" y="2377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grade matters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8346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L machines fail nearly 2× as often as Type H — build quality drives reliability.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  <a:effectLst>
            <a:outerShdw blurRad="63500" dist="25400" dir="5400000" algn="bl" rotWithShape="0">
              <a:srgbClr val="AAB8B9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8562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5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66760" y="2377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&amp; power lead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66760" y="28346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Torque_Nm and Power_W show the strongest individual correlation with failure.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  <a:effectLst>
            <a:outerShdw blurRad="63500" dist="25400" dir="5400000" algn="bl" rotWithShape="0">
              <a:srgbClr val="AAB8B9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1879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5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7240" y="47091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dissipation is #1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51663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 is the most frequent failure mode — validated by our Temp_Diff_K feature.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402336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  <a:effectLst>
            <a:outerShdw blurRad="63500" dist="25400" dir="5400000" algn="bl" rotWithShape="0">
              <a:srgbClr val="AAB8B9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41879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5E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0" y="4709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 combinatorial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0" y="5166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torque-speed zones drive failure — not any single variable alone.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a Manufacturing Plant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11096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11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80136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heat dissipation monitoring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00200" y="216712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 is the leading failure mode — regular checks on cooling systems would have the biggest impact.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54096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54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94436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torque &amp; power alert thresholds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00200" y="331012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showed the strongest correlation with failure — early warning systems could flag risk before breakdown.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197096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97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08736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quality-specific maintenance schedules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00200" y="445312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L machines warrant more frequent inspection, given their higher failure rate.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340096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340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523036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 as a next step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00200" y="559612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classifier (e.g. Random Forest) using these engineered features could move maintenance from reactive to predictive.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Knowledge + Data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Strongest Case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failure isn't driven by any single sensor reading — it emerges from combinations of torque, power, heat dissipation, and build quality. By engineering features grounded in real mechanical engineering principles, this project shows how domain knowledge can meaningfully strengthen a data analytics workflow.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846320"/>
            <a:ext cx="11887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074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Vyshakh  |  Predictive Maintenance Analysis  |  Data Analytics Final 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1472</Words>
  <Application>Microsoft Office PowerPoint</Application>
  <PresentationFormat>Widescreen</PresentationFormat>
  <Paragraphs>252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Vyshakh s</cp:lastModifiedBy>
  <cp:revision>2</cp:revision>
  <dcterms:created xsi:type="dcterms:W3CDTF">2026-08-26T06:25:00Z</dcterms:created>
  <dcterms:modified xsi:type="dcterms:W3CDTF">2026-08-26T06:40:11Z</dcterms:modified>
</cp:coreProperties>
</file>